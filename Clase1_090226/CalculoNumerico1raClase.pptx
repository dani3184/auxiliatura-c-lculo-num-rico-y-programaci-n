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61" r:id="rId4"/>
    <p:sldId id="263" r:id="rId5"/>
    <p:sldId id="262" r:id="rId6"/>
    <p:sldId id="260" r:id="rId7"/>
    <p:sldId id="264" r:id="rId8"/>
    <p:sldId id="265" r:id="rId9"/>
    <p:sldId id="266" r:id="rId10"/>
    <p:sldId id="258" r:id="rId11"/>
    <p:sldId id="259" r:id="rId12"/>
    <p:sldId id="268" r:id="rId13"/>
    <p:sldId id="267" r:id="rId14"/>
    <p:sldId id="271" r:id="rId15"/>
    <p:sldId id="272" r:id="rId16"/>
    <p:sldId id="273" r:id="rId17"/>
    <p:sldId id="269" r:id="rId18"/>
    <p:sldId id="274" r:id="rId19"/>
    <p:sldId id="270" r:id="rId20"/>
    <p:sldId id="275" r:id="rId21"/>
    <p:sldId id="277" r:id="rId22"/>
    <p:sldId id="276" r:id="rId23"/>
    <p:sldId id="279" r:id="rId24"/>
    <p:sldId id="278" r:id="rId25"/>
    <p:sldId id="280" r:id="rId26"/>
    <p:sldId id="281" r:id="rId27"/>
    <p:sldId id="282" r:id="rId28"/>
    <p:sldId id="284" r:id="rId29"/>
    <p:sldId id="283" r:id="rId30"/>
    <p:sldId id="285" r:id="rId31"/>
  </p:sldIdLst>
  <p:sldSz cx="12192000" cy="6858000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99EC4D-8C58-4269-8725-B70F7C7378E3}" v="58" dt="2026-02-09T15:53:08.6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6" d="100"/>
          <a:sy n="56" d="100"/>
        </p:scale>
        <p:origin x="48" y="8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3F8272-D802-4539-A792-DE70F7B9A328}" type="datetimeFigureOut">
              <a:rPr lang="es-BO" smtClean="0"/>
              <a:t>9/2/2026</a:t>
            </a:fld>
            <a:endParaRPr lang="es-B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B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191E26-61DB-4E07-92E6-ACC5F6B40716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159160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B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191E26-61DB-4E07-92E6-ACC5F6B40716}" type="slidenum">
              <a:rPr lang="es-BO" smtClean="0"/>
              <a:t>5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183690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DCCDE0-A600-966E-3056-C8845F5247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8CE6159-74B8-C597-D507-191FC068A1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181896-C102-3044-9E0F-D84978DDD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22FC9-8DAD-46F3-978F-0CD6CE973EAF}" type="datetimeFigureOut">
              <a:rPr lang="es-BO" smtClean="0"/>
              <a:t>9/2/2026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CB5802-FB3C-D6C2-9B21-BC3D5123C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EF4798-4C40-462C-57C4-6A19C2938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8AC09-3E66-4443-8CEA-7CAD79B22AC4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149113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70CF08-90D0-5149-3FDC-EA0AE64F4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6BEEB1-BDF4-AF22-8A68-B9AFF28FD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6DD4B2-A828-46D2-15D7-1B169E792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22FC9-8DAD-46F3-978F-0CD6CE973EAF}" type="datetimeFigureOut">
              <a:rPr lang="es-BO" smtClean="0"/>
              <a:t>9/2/2026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41D45C-E7BD-14D7-4687-E96DF4FCD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7F3015-087C-0426-094E-4003F12EF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8AC09-3E66-4443-8CEA-7CAD79B22AC4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255291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A6F647-CEF1-65E5-53A1-FDCDF38C2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694F76-3516-3D57-22CE-6E6A7DEA7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7ECF99-DA96-B772-87B9-6831E4A43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22FC9-8DAD-46F3-978F-0CD6CE973EAF}" type="datetimeFigureOut">
              <a:rPr lang="es-BO" smtClean="0"/>
              <a:t>9/2/2026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56AE3C-85EE-6A09-CB4C-E0F013BEF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7BDA89-0E86-A632-BB60-12BB02E92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8AC09-3E66-4443-8CEA-7CAD79B22AC4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472283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E10F5-B8A3-4C6F-AABB-76819FFF0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54C1F4-7212-9A71-66BD-FD0CFEF980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FA21AA0-D464-822C-17B3-F2ADDE9BF1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60B3B23-9816-8843-1F17-7A947FD2D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22FC9-8DAD-46F3-978F-0CD6CE973EAF}" type="datetimeFigureOut">
              <a:rPr lang="es-BO" smtClean="0"/>
              <a:t>9/2/2026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F4A2E75-7B2C-C383-7B38-D07BF2326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752F588-82B0-1FD9-9D67-8C29E474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8AC09-3E66-4443-8CEA-7CAD79B22AC4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384425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AE5E96-62FF-432B-ACF2-DC3B8D2B4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FF9081-D221-3E55-B944-84D8E0F45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543AB02-AEFB-CCAA-B27B-3B4AC07A6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783537F-DECD-5AC6-1C93-1A09CFCB70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377878F-16D1-E3FF-E10F-7ED74FADE5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9D0BA97-575B-2A9C-B25F-47BCB1B32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22FC9-8DAD-46F3-978F-0CD6CE973EAF}" type="datetimeFigureOut">
              <a:rPr lang="es-BO" smtClean="0"/>
              <a:t>9/2/2026</a:t>
            </a:fld>
            <a:endParaRPr lang="es-B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E4CD0D0-3433-24FF-ED8A-F7CAD4E46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9F15468-EA23-6704-1544-7F46823E5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8AC09-3E66-4443-8CEA-7CAD79B22AC4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174925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6EB8F5-0595-1FC1-5179-80925E2E0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70941AF-EDD2-9AE4-813B-7F1B93EAB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22FC9-8DAD-46F3-978F-0CD6CE973EAF}" type="datetimeFigureOut">
              <a:rPr lang="es-BO" smtClean="0"/>
              <a:t>9/2/2026</a:t>
            </a:fld>
            <a:endParaRPr lang="es-B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6AA5DCA-ADAD-311C-81B9-BE7F1B3D8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49576AD-CB36-243A-2D16-465097857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8AC09-3E66-4443-8CEA-7CAD79B22AC4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43229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320472D-F882-77A1-8454-0851B3C82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22FC9-8DAD-46F3-978F-0CD6CE973EAF}" type="datetimeFigureOut">
              <a:rPr lang="es-BO" smtClean="0"/>
              <a:t>9/2/2026</a:t>
            </a:fld>
            <a:endParaRPr lang="es-B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85B81C9-C919-4311-AE6F-7B6B3D417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8B9247-8E75-7D6F-CFB7-0EBD27404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8AC09-3E66-4443-8CEA-7CAD79B22AC4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728902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DE145E-9C16-6D5C-9343-64D0C02A6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025A53-5FCD-503E-59C6-9792747F8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34ADBE8-8E84-71FF-43A4-E89BBD330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08BD39D-1436-980B-6947-3BE0364B4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22FC9-8DAD-46F3-978F-0CD6CE973EAF}" type="datetimeFigureOut">
              <a:rPr lang="es-BO" smtClean="0"/>
              <a:t>9/2/2026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4C4E0DA-C5A0-4A52-1863-9E3FC842A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2CE6D59-E6AF-A55D-B23F-02065313E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8AC09-3E66-4443-8CEA-7CAD79B22AC4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688843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05FF7C-4E17-3649-CA5D-2032830DE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2DAC654-33F6-F7EF-3B3D-3308441419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133E423-AC24-F69E-3881-D075A0628B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3D35059-FF7F-DA61-5086-8BA4DFD54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22FC9-8DAD-46F3-978F-0CD6CE973EAF}" type="datetimeFigureOut">
              <a:rPr lang="es-BO" smtClean="0"/>
              <a:t>9/2/2026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6809DCB-C8EC-53B9-05E6-7F407EF8E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4FAB194-F790-5DD7-B9D8-5C3FBF6DE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8AC09-3E66-4443-8CEA-7CAD79B22AC4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354036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E559B6-4998-4D6C-5BD3-E2F541386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1F5A669-5F6A-4816-DA5B-5E36D73E2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91D5F5-0FAB-CD75-F2A2-5A297DF2F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22FC9-8DAD-46F3-978F-0CD6CE973EAF}" type="datetimeFigureOut">
              <a:rPr lang="es-BO" smtClean="0"/>
              <a:t>9/2/2026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BD6DBF-B1EC-1F86-CBC7-7BD88E92E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0226BE-90AA-9425-FED7-86B6CD4C3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8AC09-3E66-4443-8CEA-7CAD79B22AC4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292707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3300403-19A8-9508-261D-1C19537F2D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EA78E03-828B-697A-0ED6-CADF017D3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4FF3E1-88D6-5F47-8E22-0D0919550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22FC9-8DAD-46F3-978F-0CD6CE973EAF}" type="datetimeFigureOut">
              <a:rPr lang="es-BO" smtClean="0"/>
              <a:t>9/2/2026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4B8CEA-7C63-0CBC-0AB8-24A720EC0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DED9B-995A-14AF-104E-00DD43495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8AC09-3E66-4443-8CEA-7CAD79B22AC4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379812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796A3F7-CAC7-7096-E96F-3F990A5FC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59E82A-9822-C608-D5B7-F580BD49E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281B04-2B8F-58D8-CFE6-01B46D0F2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E22FC9-8DAD-46F3-978F-0CD6CE973EAF}" type="datetimeFigureOut">
              <a:rPr lang="es-BO" smtClean="0"/>
              <a:t>9/2/2026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3397BD-6E4E-0C78-7EAF-6AF82CDAE5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7586FC-565A-C6E5-4484-55DDA2AE5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D8AC09-3E66-4443-8CEA-7CAD79B22AC4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216571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B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5899B1-D975-8CD7-22EB-F67E16FF8D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BO" noProof="0" dirty="0"/>
              <a:t>Cálculo Numérico y Programación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1E6A6B-BC7E-34C3-18B6-D0D0E18D2E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BO" noProof="0" dirty="0"/>
              <a:t>Daniel Roberto Garcia Miranda</a:t>
            </a:r>
          </a:p>
        </p:txBody>
      </p:sp>
    </p:spTree>
    <p:extLst>
      <p:ext uri="{BB962C8B-B14F-4D97-AF65-F5344CB8AC3E}">
        <p14:creationId xmlns:p14="http://schemas.microsoft.com/office/powerpoint/2010/main" val="3700155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B57D39-A375-9980-D4DF-370066F79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32858"/>
            <a:ext cx="2692399" cy="5248275"/>
          </a:xfrm>
        </p:spPr>
        <p:txBody>
          <a:bodyPr>
            <a:normAutofit/>
          </a:bodyPr>
          <a:lstStyle/>
          <a:p>
            <a:r>
              <a:rPr lang="es-BO" noProof="0" dirty="0"/>
              <a:t>¿Para qué nos sirve el cálculo numérico?</a:t>
            </a:r>
          </a:p>
        </p:txBody>
      </p:sp>
      <p:pic>
        <p:nvPicPr>
          <p:cNvPr id="5" name="Marcador de contenido 4" descr="Diagrama&#10;&#10;El contenido generado por IA puede ser incorrecto.">
            <a:extLst>
              <a:ext uri="{FF2B5EF4-FFF2-40B4-BE49-F238E27FC236}">
                <a16:creationId xmlns:a16="http://schemas.microsoft.com/office/drawing/2014/main" id="{D188FCB1-0CDC-E96E-38DE-7E8BF68172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48630" y="144715"/>
            <a:ext cx="4329703" cy="6568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120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C031EB-839A-0F7B-18BE-CA0E67B1D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s-BO" noProof="0" dirty="0"/>
              <a:t>Cálculo numérico y programación en la carrera</a:t>
            </a:r>
          </a:p>
        </p:txBody>
      </p:sp>
    </p:spTree>
    <p:extLst>
      <p:ext uri="{BB962C8B-B14F-4D97-AF65-F5344CB8AC3E}">
        <p14:creationId xmlns:p14="http://schemas.microsoft.com/office/powerpoint/2010/main" val="3859151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7D3420-91AD-42D0-70FA-1F6BFF935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noProof="0" dirty="0"/>
              <a:t>Rayos Cósmicos</a:t>
            </a:r>
          </a:p>
        </p:txBody>
      </p:sp>
      <p:pic>
        <p:nvPicPr>
          <p:cNvPr id="5" name="Marcador de contenido 4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0F843BF1-C7C4-30E5-0F0E-DB957A3E6D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3331"/>
            <a:ext cx="6227066" cy="5460736"/>
          </a:xfrm>
          <a:prstGeom prst="rect">
            <a:avLst/>
          </a:prstGeom>
        </p:spPr>
      </p:pic>
      <p:pic>
        <p:nvPicPr>
          <p:cNvPr id="7" name="Imagen 6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3DA37018-8729-FCFB-4677-CE309B5999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7066" y="1413933"/>
            <a:ext cx="5928636" cy="5300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243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151A21-A300-9134-8D3E-8B954CD89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3208"/>
          </a:xfrm>
        </p:spPr>
        <p:txBody>
          <a:bodyPr>
            <a:normAutofit fontScale="90000"/>
          </a:bodyPr>
          <a:lstStyle/>
          <a:p>
            <a:r>
              <a:rPr lang="es-BO" noProof="0" dirty="0"/>
              <a:t>Física de la Atmósfera</a:t>
            </a:r>
          </a:p>
        </p:txBody>
      </p:sp>
      <p:pic>
        <p:nvPicPr>
          <p:cNvPr id="7" name="Imagen 6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7468F06F-5D23-C2DC-A925-D7597BC3B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733" y="1058334"/>
            <a:ext cx="5943600" cy="4518579"/>
          </a:xfrm>
          <a:prstGeom prst="rect">
            <a:avLst/>
          </a:prstGeom>
        </p:spPr>
      </p:pic>
      <p:pic>
        <p:nvPicPr>
          <p:cNvPr id="11" name="Marcador de contenido 10" descr="Imagen de la pantalla de un computador&#10;&#10;El contenido generado por IA puede ser incorrecto.">
            <a:extLst>
              <a:ext uri="{FF2B5EF4-FFF2-40B4-BE49-F238E27FC236}">
                <a16:creationId xmlns:a16="http://schemas.microsoft.com/office/drawing/2014/main" id="{1D87A1DE-8A6B-3F15-23DB-61297CC9FF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l="1023" r="1341"/>
          <a:stretch>
            <a:fillRect/>
          </a:stretch>
        </p:blipFill>
        <p:spPr>
          <a:xfrm>
            <a:off x="0" y="1225575"/>
            <a:ext cx="616373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90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293FDF-C139-A8C3-478D-B93E51D97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818"/>
            <a:ext cx="10515600" cy="1325563"/>
          </a:xfrm>
        </p:spPr>
        <p:txBody>
          <a:bodyPr>
            <a:normAutofit/>
          </a:bodyPr>
          <a:lstStyle/>
          <a:p>
            <a:r>
              <a:rPr lang="es-BO" sz="3600" noProof="0" dirty="0"/>
              <a:t>Rayos Cósmicos</a:t>
            </a:r>
          </a:p>
        </p:txBody>
      </p:sp>
      <p:pic>
        <p:nvPicPr>
          <p:cNvPr id="7" name="Marcador de contenido 6" descr="Diagrama&#10;&#10;El contenido generado por IA puede ser incorrecto.">
            <a:extLst>
              <a:ext uri="{FF2B5EF4-FFF2-40B4-BE49-F238E27FC236}">
                <a16:creationId xmlns:a16="http://schemas.microsoft.com/office/drawing/2014/main" id="{10A6C53E-519A-8F42-9FC2-6897D567B3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485" y="1462089"/>
            <a:ext cx="5847516" cy="4371444"/>
          </a:xfrm>
          <a:prstGeom prst="rect">
            <a:avLst/>
          </a:prstGeom>
        </p:spPr>
      </p:pic>
      <p:pic>
        <p:nvPicPr>
          <p:cNvPr id="9" name="Imagen 8" descr="Gráfico, Gráfico de superficie&#10;&#10;El contenido generado por IA puede ser incorrecto.">
            <a:extLst>
              <a:ext uri="{FF2B5EF4-FFF2-40B4-BE49-F238E27FC236}">
                <a16:creationId xmlns:a16="http://schemas.microsoft.com/office/drawing/2014/main" id="{BF0B2A84-16F9-533D-33CB-FE0BBB558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26381"/>
            <a:ext cx="4682067" cy="469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707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B9B300-7084-1E47-E407-39C9F07D5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067" y="0"/>
            <a:ext cx="10515600" cy="1325563"/>
          </a:xfrm>
        </p:spPr>
        <p:txBody>
          <a:bodyPr>
            <a:normAutofit/>
          </a:bodyPr>
          <a:lstStyle/>
          <a:p>
            <a:r>
              <a:rPr lang="es-BO" sz="3200" noProof="0" dirty="0"/>
              <a:t>Física Teórica</a:t>
            </a:r>
          </a:p>
        </p:txBody>
      </p:sp>
      <p:pic>
        <p:nvPicPr>
          <p:cNvPr id="5" name="Marcador de contenido 4" descr="Texto&#10;&#10;El contenido generado por IA puede ser incorrecto.">
            <a:extLst>
              <a:ext uri="{FF2B5EF4-FFF2-40B4-BE49-F238E27FC236}">
                <a16:creationId xmlns:a16="http://schemas.microsoft.com/office/drawing/2014/main" id="{DB1446E9-34C3-891F-DAD2-D134630DF7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7231"/>
          <a:stretch>
            <a:fillRect/>
          </a:stretch>
        </p:blipFill>
        <p:spPr>
          <a:xfrm>
            <a:off x="0" y="1567114"/>
            <a:ext cx="6809442" cy="4356212"/>
          </a:xfrm>
          <a:prstGeom prst="rect">
            <a:avLst/>
          </a:prstGeom>
        </p:spPr>
      </p:pic>
      <p:pic>
        <p:nvPicPr>
          <p:cNvPr id="7" name="Imagen 6" descr="Diagrama, Dibujo de ingeniería&#10;&#10;El contenido generado por IA puede ser incorrecto.">
            <a:extLst>
              <a:ext uri="{FF2B5EF4-FFF2-40B4-BE49-F238E27FC236}">
                <a16:creationId xmlns:a16="http://schemas.microsoft.com/office/drawing/2014/main" id="{E1508E84-4ECF-C521-1FD6-E7096C1B3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735" y="431978"/>
            <a:ext cx="5341817" cy="5105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543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ED4921-E43E-2E6E-850A-C11B0A8A0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 noProof="0" dirty="0"/>
          </a:p>
        </p:txBody>
      </p:sp>
      <p:pic>
        <p:nvPicPr>
          <p:cNvPr id="9" name="Marcador de contenido 8" descr="Diagrama&#10;&#10;El contenido generado por IA puede ser incorrecto.">
            <a:extLst>
              <a:ext uri="{FF2B5EF4-FFF2-40B4-BE49-F238E27FC236}">
                <a16:creationId xmlns:a16="http://schemas.microsoft.com/office/drawing/2014/main" id="{B801281C-07A3-2220-02B8-A60E71D2C6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9044" y="0"/>
            <a:ext cx="9944390" cy="6761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120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5CD71E-794E-7BE6-6B81-B5965B863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noProof="0" dirty="0"/>
              <a:t>Rayos Cósmicos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CD4BB13-BCCA-A317-3D71-01CEAAB29E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99697"/>
            <a:ext cx="4203807" cy="2387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6784A0FE-3246-6A8A-A84C-FA84E072A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2078" y="202565"/>
            <a:ext cx="5112660" cy="3226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406E785E-5687-0E78-4796-E055800EB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2078" y="3428999"/>
            <a:ext cx="5112660" cy="3365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F2BF6FD0-AF42-27F8-C8F0-6387EB5A7D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3986717"/>
            <a:ext cx="4226631" cy="2228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3794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BO" noProof="0" dirty="0"/>
          </a:p>
        </p:txBody>
      </p:sp>
      <p:pic>
        <p:nvPicPr>
          <p:cNvPr id="1026" name="Picture 2" descr="Lenguajes de programación">
            <a:extLst>
              <a:ext uri="{FF2B5EF4-FFF2-40B4-BE49-F238E27FC236}">
                <a16:creationId xmlns:a16="http://schemas.microsoft.com/office/drawing/2014/main" id="{B87319B4-EE1A-B4FB-D638-E6C09DE7834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55" b="11812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5620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A71B2E-79B4-1885-E962-D0BE882ED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noProof="0" dirty="0"/>
              <a:t>Introducción a Python</a:t>
            </a:r>
          </a:p>
        </p:txBody>
      </p:sp>
      <p:pic>
        <p:nvPicPr>
          <p:cNvPr id="3076" name="Picture 4" descr="Differences among #Assembly, #C, #C++ &amp; #Python. #Statistics #Research  #BigData #Analytics #DataScience #AI #MachineLearning #DataMining  #JupyterNotebook #Spyder #AnacondaNavigator #PyCharm #RStudio #DeepLearning  #IoT #RStats #JavaScript ...">
            <a:extLst>
              <a:ext uri="{FF2B5EF4-FFF2-40B4-BE49-F238E27FC236}">
                <a16:creationId xmlns:a16="http://schemas.microsoft.com/office/drawing/2014/main" id="{7D1A10CE-9ED2-ED70-9FFC-C1429A7192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87" r="23469"/>
          <a:stretch>
            <a:fillRect/>
          </a:stretch>
        </p:blipFill>
        <p:spPr bwMode="auto">
          <a:xfrm>
            <a:off x="6285053" y="0"/>
            <a:ext cx="4074289" cy="6877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BF69126-F486-593F-9BC5-3C3E085DF912}"/>
              </a:ext>
            </a:extLst>
          </p:cNvPr>
          <p:cNvSpPr txBox="1"/>
          <p:nvPr/>
        </p:nvSpPr>
        <p:spPr>
          <a:xfrm>
            <a:off x="621175" y="1828800"/>
            <a:ext cx="547482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sz="3200" noProof="0" dirty="0"/>
              <a:t>Sintaxis simple, relativamente fácil de aprender.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sz="3200" noProof="0" dirty="0"/>
              <a:t>Útil en muchas áreas (ciencias, desarrollo web, programación GUI)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sz="3200" noProof="0" dirty="0"/>
              <a:t>Gran biblioteca estándar, muchos paquetes adicionales.</a:t>
            </a:r>
          </a:p>
        </p:txBody>
      </p:sp>
    </p:spTree>
    <p:extLst>
      <p:ext uri="{BB962C8B-B14F-4D97-AF65-F5344CB8AC3E}">
        <p14:creationId xmlns:p14="http://schemas.microsoft.com/office/powerpoint/2010/main" val="590220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Tabla&#10;&#10;El contenido generado por IA puede ser incorrecto.">
            <a:extLst>
              <a:ext uri="{FF2B5EF4-FFF2-40B4-BE49-F238E27FC236}">
                <a16:creationId xmlns:a16="http://schemas.microsoft.com/office/drawing/2014/main" id="{40C10B94-A64E-DC9B-D229-FE3BA0806D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2048" y="450321"/>
            <a:ext cx="10432438" cy="5577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216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B357D3-71F9-D8BD-E2D3-DF9E837A8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noProof="0" dirty="0"/>
              <a:t>Básicos de Python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667B78-7E33-0675-F2E3-8E5C9A751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noProof="0" dirty="0"/>
              <a:t>Función </a:t>
            </a:r>
            <a:r>
              <a:rPr lang="es-BO" noProof="0" dirty="0" err="1"/>
              <a:t>print</a:t>
            </a:r>
            <a:r>
              <a:rPr lang="es-BO" noProof="0" dirty="0"/>
              <a:t>: Sirve para imprimir texto (</a:t>
            </a:r>
            <a:r>
              <a:rPr lang="es-BO" noProof="0" dirty="0" err="1"/>
              <a:t>string</a:t>
            </a:r>
            <a:r>
              <a:rPr lang="es-BO" noProof="0" dirty="0"/>
              <a:t>)</a:t>
            </a:r>
          </a:p>
          <a:p>
            <a:pPr lvl="1"/>
            <a:r>
              <a:rPr lang="es-BO" noProof="0" dirty="0" err="1"/>
              <a:t>Print</a:t>
            </a:r>
            <a:r>
              <a:rPr lang="es-BO" noProof="0" dirty="0"/>
              <a:t>(“Hola mundo!”), </a:t>
            </a:r>
            <a:r>
              <a:rPr lang="es-BO" noProof="0" dirty="0" err="1"/>
              <a:t>print</a:t>
            </a:r>
            <a:r>
              <a:rPr lang="es-BO" noProof="0" dirty="0"/>
              <a:t>(‘Hola mundo’)</a:t>
            </a:r>
          </a:p>
          <a:p>
            <a:pPr lvl="1"/>
            <a:r>
              <a:rPr lang="es-BO" noProof="0" dirty="0" err="1"/>
              <a:t>Print</a:t>
            </a:r>
            <a:r>
              <a:rPr lang="es-BO" noProof="0" dirty="0"/>
              <a:t>(“La variable es: ”,  x)</a:t>
            </a:r>
          </a:p>
          <a:p>
            <a:r>
              <a:rPr lang="es-BO" noProof="0" dirty="0"/>
              <a:t>Función input: sirve para guardar valores en una variable (tipo </a:t>
            </a:r>
            <a:r>
              <a:rPr lang="es-BO" noProof="0" dirty="0" err="1"/>
              <a:t>string</a:t>
            </a:r>
            <a:r>
              <a:rPr lang="es-BO" noProof="0" dirty="0"/>
              <a:t>)</a:t>
            </a:r>
          </a:p>
          <a:p>
            <a:pPr lvl="1"/>
            <a:r>
              <a:rPr lang="es-BO" noProof="0" dirty="0"/>
              <a:t>Nombre = input(“Escribe tu nombre: ”)</a:t>
            </a:r>
          </a:p>
          <a:p>
            <a:pPr lvl="1"/>
            <a:r>
              <a:rPr lang="es-BO" noProof="0" dirty="0"/>
              <a:t>Velocidad = </a:t>
            </a:r>
            <a:r>
              <a:rPr lang="es-BO" noProof="0" dirty="0" err="1"/>
              <a:t>int</a:t>
            </a:r>
            <a:r>
              <a:rPr lang="es-BO" noProof="0" dirty="0"/>
              <a:t>(input(“Escribe la velocidad: ”))</a:t>
            </a:r>
          </a:p>
        </p:txBody>
      </p:sp>
    </p:spTree>
    <p:extLst>
      <p:ext uri="{BB962C8B-B14F-4D97-AF65-F5344CB8AC3E}">
        <p14:creationId xmlns:p14="http://schemas.microsoft.com/office/powerpoint/2010/main" val="2521951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A0C5F2-8725-8B9A-CEA2-C03C2844F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noProof="0" dirty="0"/>
              <a:t>Operaciones con </a:t>
            </a:r>
            <a:r>
              <a:rPr lang="es-BO" noProof="0" dirty="0" err="1"/>
              <a:t>strings</a:t>
            </a:r>
            <a:r>
              <a:rPr lang="es-BO" noProof="0" dirty="0"/>
              <a:t> (palabras)</a:t>
            </a:r>
          </a:p>
        </p:txBody>
      </p:sp>
      <p:pic>
        <p:nvPicPr>
          <p:cNvPr id="5" name="Marcador de contenido 4" descr="Texto&#10;&#10;El contenido generado por IA puede ser incorrecto.">
            <a:extLst>
              <a:ext uri="{FF2B5EF4-FFF2-40B4-BE49-F238E27FC236}">
                <a16:creationId xmlns:a16="http://schemas.microsoft.com/office/drawing/2014/main" id="{D32BC36B-74BB-EDE7-4970-69877E852C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79660"/>
            <a:ext cx="8945752" cy="557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598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044529-922E-D386-4C1B-9708A9F05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noProof="0" dirty="0"/>
              <a:t>Ejercicio 1 y 2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86D6F0-CFBD-F5A2-389C-0E23EB38C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noProof="0" dirty="0"/>
              <a:t>Escribe un programa que te pregunte, por separado, tu nombre y apellido. El programa te debe decir ambos y la longitud de cada uno.</a:t>
            </a:r>
          </a:p>
          <a:p>
            <a:r>
              <a:rPr lang="es-BO" noProof="0" dirty="0"/>
              <a:t>Escribe un programa que te pregunta (y guarde), tu nombre y sentimiento, el programa te debe responder: </a:t>
            </a:r>
          </a:p>
          <a:p>
            <a:pPr lvl="1"/>
            <a:r>
              <a:rPr lang="es-BO" noProof="0" dirty="0"/>
              <a:t>Hola (nombre) que bueno que te sientas (sentimiento)!.</a:t>
            </a:r>
          </a:p>
        </p:txBody>
      </p:sp>
    </p:spTree>
    <p:extLst>
      <p:ext uri="{BB962C8B-B14F-4D97-AF65-F5344CB8AC3E}">
        <p14:creationId xmlns:p14="http://schemas.microsoft.com/office/powerpoint/2010/main" val="3897150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D66E69-7C51-2CBB-D803-B7A5772D1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/>
              <a:t>Ejercicio 3</a:t>
            </a:r>
          </a:p>
        </p:txBody>
      </p:sp>
      <p:pic>
        <p:nvPicPr>
          <p:cNvPr id="5" name="Marcador de contenido 4" descr="Texto&#10;&#10;El contenido generado por IA puede ser incorrecto.">
            <a:extLst>
              <a:ext uri="{FF2B5EF4-FFF2-40B4-BE49-F238E27FC236}">
                <a16:creationId xmlns:a16="http://schemas.microsoft.com/office/drawing/2014/main" id="{1E182E5C-F5F6-CDFC-5543-18E3439CA1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202" y="1815153"/>
            <a:ext cx="11519596" cy="437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167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3BF1D2-8F95-3976-88B7-BFE56C4F6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noProof="0" dirty="0"/>
              <a:t>Tipos de variables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94D415-BE2A-BA4D-2655-7DFB1D33B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noProof="0" dirty="0" err="1"/>
              <a:t>Int</a:t>
            </a:r>
            <a:r>
              <a:rPr lang="es-BO" noProof="0" dirty="0"/>
              <a:t> : a =5</a:t>
            </a:r>
          </a:p>
          <a:p>
            <a:r>
              <a:rPr lang="es-BO" noProof="0" dirty="0" err="1"/>
              <a:t>Float</a:t>
            </a:r>
            <a:r>
              <a:rPr lang="es-BO" noProof="0" dirty="0"/>
              <a:t> : b = 3.14</a:t>
            </a:r>
          </a:p>
          <a:p>
            <a:r>
              <a:rPr lang="es-BO" noProof="0" dirty="0" err="1"/>
              <a:t>String</a:t>
            </a:r>
            <a:r>
              <a:rPr lang="es-BO" noProof="0" dirty="0"/>
              <a:t> : c  = “Hola”, c = ‘Hola’</a:t>
            </a:r>
          </a:p>
          <a:p>
            <a:r>
              <a:rPr lang="es-BO" noProof="0" dirty="0"/>
              <a:t>Booleano : d = True, e = false</a:t>
            </a:r>
          </a:p>
          <a:p>
            <a:pPr marL="0" indent="0">
              <a:buNone/>
            </a:pPr>
            <a:r>
              <a:rPr lang="es-BO" noProof="0" dirty="0"/>
              <a:t>Para ver el tipo se usa: </a:t>
            </a:r>
            <a:r>
              <a:rPr lang="es-BO" noProof="0" dirty="0" err="1"/>
              <a:t>print</a:t>
            </a:r>
            <a:r>
              <a:rPr lang="es-BO" noProof="0" dirty="0"/>
              <a:t>(</a:t>
            </a:r>
            <a:r>
              <a:rPr lang="es-BO" noProof="0" dirty="0" err="1"/>
              <a:t>type</a:t>
            </a:r>
            <a:r>
              <a:rPr lang="es-BO" noProof="0" dirty="0"/>
              <a:t>(a))</a:t>
            </a:r>
          </a:p>
          <a:p>
            <a:pPr marL="0" indent="0">
              <a:buNone/>
            </a:pPr>
            <a:r>
              <a:rPr lang="es-BO" dirty="0"/>
              <a:t>Para convertir tipos se pone </a:t>
            </a:r>
            <a:r>
              <a:rPr lang="es-BO" dirty="0" err="1"/>
              <a:t>int</a:t>
            </a:r>
            <a:r>
              <a:rPr lang="es-BO" dirty="0"/>
              <a:t>(), </a:t>
            </a:r>
            <a:r>
              <a:rPr lang="es-BO" dirty="0" err="1"/>
              <a:t>str</a:t>
            </a:r>
            <a:r>
              <a:rPr lang="es-BO" dirty="0"/>
              <a:t>() , </a:t>
            </a:r>
          </a:p>
          <a:p>
            <a:pPr marL="0" indent="0">
              <a:buNone/>
            </a:pPr>
            <a:r>
              <a:rPr lang="es-BO" dirty="0"/>
              <a:t>etc. A la variable a convertir</a:t>
            </a:r>
            <a:endParaRPr lang="es-BO" noProof="0" dirty="0"/>
          </a:p>
          <a:p>
            <a:pPr marL="0" indent="0">
              <a:buNone/>
            </a:pPr>
            <a:endParaRPr lang="es-BO" noProof="0" dirty="0"/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C5BE0B1C-5895-C735-BA56-8A4A14864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2697" y="182562"/>
            <a:ext cx="5259074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1530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976739-4B92-5FDF-480E-6ED12E744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Ejercicios</a:t>
            </a:r>
            <a:r>
              <a:rPr lang="en-GB" dirty="0"/>
              <a:t> 3 y 4</a:t>
            </a:r>
            <a:endParaRPr lang="es-BO" dirty="0"/>
          </a:p>
        </p:txBody>
      </p:sp>
      <p:pic>
        <p:nvPicPr>
          <p:cNvPr id="5" name="Marcador de contenido 4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4C291CFF-4D1D-8BBB-5D72-FA55330E2A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72251" y="365125"/>
            <a:ext cx="6105098" cy="6409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028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367DCD-50C0-1729-7DA3-BEF864E09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noProof="0" dirty="0"/>
              <a:t>Operaciones con </a:t>
            </a:r>
            <a:r>
              <a:rPr lang="es-BO" noProof="0" dirty="0" err="1"/>
              <a:t>numeros</a:t>
            </a:r>
            <a:endParaRPr lang="es-BO" noProof="0" dirty="0"/>
          </a:p>
        </p:txBody>
      </p:sp>
      <p:pic>
        <p:nvPicPr>
          <p:cNvPr id="5" name="Marcador de contenido 4" descr="Texto&#10;&#10;El contenido generado por IA puede ser incorrecto.">
            <a:extLst>
              <a:ext uri="{FF2B5EF4-FFF2-40B4-BE49-F238E27FC236}">
                <a16:creationId xmlns:a16="http://schemas.microsoft.com/office/drawing/2014/main" id="{156F029B-81CB-DE8D-7BA8-933B1218D8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25867"/>
            <a:ext cx="6842078" cy="506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4805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Tabla&#10;&#10;El contenido generado por IA puede ser incorrecto.">
            <a:extLst>
              <a:ext uri="{FF2B5EF4-FFF2-40B4-BE49-F238E27FC236}">
                <a16:creationId xmlns:a16="http://schemas.microsoft.com/office/drawing/2014/main" id="{1B7C065D-4C4F-AAA3-EB0B-2C310BA031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8889" y="464936"/>
            <a:ext cx="8299380" cy="5928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258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C8F705-51F8-0E8A-C8BF-61DE05A4C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Libreria</a:t>
            </a:r>
            <a:r>
              <a:rPr lang="en-GB" dirty="0"/>
              <a:t> math</a:t>
            </a:r>
            <a:endParaRPr lang="es-B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3CE20A-B5B5-F7C7-1CFD-C1CDC2FE6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err="1"/>
              <a:t>Contiene</a:t>
            </a:r>
            <a:r>
              <a:rPr lang="en-GB" dirty="0"/>
              <a:t> </a:t>
            </a:r>
            <a:r>
              <a:rPr lang="en-GB" dirty="0" err="1"/>
              <a:t>muchas</a:t>
            </a:r>
            <a:r>
              <a:rPr lang="en-GB" dirty="0"/>
              <a:t> </a:t>
            </a:r>
            <a:r>
              <a:rPr lang="en-GB" dirty="0" err="1"/>
              <a:t>funciones</a:t>
            </a:r>
            <a:r>
              <a:rPr lang="en-GB" dirty="0"/>
              <a:t> y </a:t>
            </a:r>
            <a:r>
              <a:rPr lang="en-GB" dirty="0" err="1"/>
              <a:t>constantes</a:t>
            </a:r>
            <a:r>
              <a:rPr lang="en-GB" dirty="0"/>
              <a:t> </a:t>
            </a:r>
            <a:r>
              <a:rPr lang="en-GB" dirty="0" err="1"/>
              <a:t>matemáticas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Import math as </a:t>
            </a:r>
            <a:r>
              <a:rPr lang="en-GB" dirty="0" err="1"/>
              <a:t>mt</a:t>
            </a:r>
            <a:r>
              <a:rPr lang="en-GB" dirty="0"/>
              <a:t>  </a:t>
            </a:r>
          </a:p>
          <a:p>
            <a:pPr marL="0" indent="0">
              <a:buNone/>
            </a:pPr>
            <a:endParaRPr lang="es-BO" dirty="0"/>
          </a:p>
          <a:p>
            <a:pPr marL="0" indent="0">
              <a:buNone/>
            </a:pPr>
            <a:r>
              <a:rPr lang="es-BO" dirty="0"/>
              <a:t>Accedes a sus funciones escribiendo </a:t>
            </a:r>
            <a:r>
              <a:rPr lang="es-BO" dirty="0" err="1"/>
              <a:t>math</a:t>
            </a:r>
            <a:r>
              <a:rPr lang="es-BO" dirty="0"/>
              <a:t>.(función o constante)</a:t>
            </a:r>
          </a:p>
          <a:p>
            <a:pPr marL="0" indent="0">
              <a:buNone/>
            </a:pPr>
            <a:r>
              <a:rPr lang="es-BO" dirty="0" err="1"/>
              <a:t>mt.cos</a:t>
            </a:r>
            <a:r>
              <a:rPr lang="es-BO" dirty="0"/>
              <a:t>	</a:t>
            </a:r>
            <a:r>
              <a:rPr lang="es-BO" dirty="0" err="1"/>
              <a:t>mt.pi</a:t>
            </a:r>
            <a:endParaRPr lang="es-BO" dirty="0"/>
          </a:p>
          <a:p>
            <a:pPr marL="0" indent="0">
              <a:buNone/>
            </a:pPr>
            <a:r>
              <a:rPr lang="es-BO" dirty="0" err="1"/>
              <a:t>Mt.sin</a:t>
            </a:r>
            <a:r>
              <a:rPr lang="es-BO" dirty="0"/>
              <a:t>	</a:t>
            </a:r>
            <a:r>
              <a:rPr lang="es-BO" dirty="0" err="1"/>
              <a:t>mt.e</a:t>
            </a:r>
            <a:endParaRPr lang="es-BO" dirty="0"/>
          </a:p>
          <a:p>
            <a:pPr marL="0" indent="0">
              <a:buNone/>
            </a:pPr>
            <a:r>
              <a:rPr lang="es-BO" dirty="0" err="1"/>
              <a:t>Mt.tan</a:t>
            </a:r>
            <a:r>
              <a:rPr lang="es-BO" dirty="0"/>
              <a:t>	</a:t>
            </a:r>
            <a:r>
              <a:rPr lang="es-BO" dirty="0" err="1"/>
              <a:t>mt.tau</a:t>
            </a:r>
            <a:r>
              <a:rPr lang="es-BO" dirty="0"/>
              <a:t>	mt.log(x, base)</a:t>
            </a:r>
          </a:p>
          <a:p>
            <a:pPr marL="0" indent="0">
              <a:buNone/>
            </a:pPr>
            <a:r>
              <a:rPr lang="es-BO" dirty="0"/>
              <a:t>Mt.log	</a:t>
            </a:r>
            <a:r>
              <a:rPr lang="es-BO" dirty="0" err="1"/>
              <a:t>mt.sqrt</a:t>
            </a:r>
            <a:r>
              <a:rPr lang="es-BO" dirty="0"/>
              <a:t>	</a:t>
            </a:r>
            <a:r>
              <a:rPr lang="es-BO" dirty="0" err="1"/>
              <a:t>mt.pow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1874865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14E6BC-5BE4-4D1D-B427-B315C189C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/>
              <a:t>Otras operaciones</a:t>
            </a:r>
          </a:p>
        </p:txBody>
      </p:sp>
      <p:pic>
        <p:nvPicPr>
          <p:cNvPr id="5" name="Marcador de contenido 4" descr="Texto&#10;&#10;El contenido generado por IA puede ser incorrecto.">
            <a:extLst>
              <a:ext uri="{FF2B5EF4-FFF2-40B4-BE49-F238E27FC236}">
                <a16:creationId xmlns:a16="http://schemas.microsoft.com/office/drawing/2014/main" id="{F5CEA482-395A-5317-F54D-863A99718D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616" y="1475979"/>
            <a:ext cx="11154768" cy="5050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133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480CD4-14C3-C48B-899F-03CB3F7D0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Condicional</a:t>
            </a:r>
            <a:endParaRPr lang="es-BO" dirty="0"/>
          </a:p>
        </p:txBody>
      </p:sp>
      <p:pic>
        <p:nvPicPr>
          <p:cNvPr id="5" name="Marcador de contenido 4" descr="Texto&#10;&#10;El contenido generado por IA puede ser incorrecto.">
            <a:extLst>
              <a:ext uri="{FF2B5EF4-FFF2-40B4-BE49-F238E27FC236}">
                <a16:creationId xmlns:a16="http://schemas.microsoft.com/office/drawing/2014/main" id="{D0FDCEF9-C640-4CF3-961D-6D9B88A803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2709" y="1410291"/>
            <a:ext cx="8278504" cy="544770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38D8D12-EB43-79A5-600A-D9C0B1444941}"/>
              </a:ext>
            </a:extLst>
          </p:cNvPr>
          <p:cNvSpPr txBox="1"/>
          <p:nvPr/>
        </p:nvSpPr>
        <p:spPr>
          <a:xfrm>
            <a:off x="6096000" y="287544"/>
            <a:ext cx="45037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== es </a:t>
            </a:r>
            <a:r>
              <a:rPr lang="en-GB" sz="3600" dirty="0" err="1"/>
              <a:t>comparacion</a:t>
            </a:r>
            <a:r>
              <a:rPr lang="en-GB" sz="3600" dirty="0"/>
              <a:t>.</a:t>
            </a:r>
          </a:p>
          <a:p>
            <a:r>
              <a:rPr lang="en-GB" sz="3600" dirty="0"/>
              <a:t>!= es </a:t>
            </a:r>
            <a:r>
              <a:rPr lang="en-GB" sz="3600" dirty="0" err="1"/>
              <a:t>diferente</a:t>
            </a:r>
            <a:endParaRPr lang="es-BO" sz="3600" dirty="0"/>
          </a:p>
        </p:txBody>
      </p:sp>
    </p:spTree>
    <p:extLst>
      <p:ext uri="{BB962C8B-B14F-4D97-AF65-F5344CB8AC3E}">
        <p14:creationId xmlns:p14="http://schemas.microsoft.com/office/powerpoint/2010/main" val="20556246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ADEEE2-8EE9-880E-7F0D-2242F9E61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/>
              <a:t>Ejercicios 5, 6 y 7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D45127-329C-535A-9BF3-2AE92BA97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/>
              <a:t>Hacer un programa que te verifique si un numero es par o impar</a:t>
            </a:r>
          </a:p>
          <a:p>
            <a:r>
              <a:rPr lang="es-BO" dirty="0"/>
              <a:t>Determinar si un año es múltiplo de 4</a:t>
            </a:r>
          </a:p>
          <a:p>
            <a:r>
              <a:rPr lang="es-BO" dirty="0"/>
              <a:t>Hacer un programa donde introduzcas los coeficientes de la ecuación cuadrática (</a:t>
            </a:r>
            <a:r>
              <a:rPr lang="es-BO" dirty="0" err="1"/>
              <a:t>Ax</a:t>
            </a:r>
            <a:r>
              <a:rPr lang="en-GB" dirty="0"/>
              <a:t>^2 + </a:t>
            </a:r>
            <a:r>
              <a:rPr lang="en-GB" dirty="0" err="1"/>
              <a:t>Bx</a:t>
            </a:r>
            <a:r>
              <a:rPr lang="en-GB" dirty="0"/>
              <a:t> +C</a:t>
            </a:r>
            <a:r>
              <a:rPr lang="es-BO" dirty="0"/>
              <a:t>), y el programa te diga: si tiene o no solución real, si tiene una solución, si tiene dos soluciones.</a:t>
            </a:r>
          </a:p>
        </p:txBody>
      </p:sp>
    </p:spTree>
    <p:extLst>
      <p:ext uri="{BB962C8B-B14F-4D97-AF65-F5344CB8AC3E}">
        <p14:creationId xmlns:p14="http://schemas.microsoft.com/office/powerpoint/2010/main" val="12636440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3B52EF-5F47-C06D-1FDA-7CCA1CA70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Bucles</a:t>
            </a:r>
            <a:r>
              <a:rPr lang="en-GB" dirty="0"/>
              <a:t> con for y while</a:t>
            </a:r>
            <a:endParaRPr lang="es-BO" dirty="0"/>
          </a:p>
        </p:txBody>
      </p:sp>
      <p:pic>
        <p:nvPicPr>
          <p:cNvPr id="5" name="Marcador de contenido 4" descr="Texto&#10;&#10;El contenido generado por IA puede ser incorrecto.">
            <a:extLst>
              <a:ext uri="{FF2B5EF4-FFF2-40B4-BE49-F238E27FC236}">
                <a16:creationId xmlns:a16="http://schemas.microsoft.com/office/drawing/2014/main" id="{0B6F267B-3079-35E8-0B56-9F1E22E399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4018" y="1369244"/>
            <a:ext cx="4050203" cy="2561311"/>
          </a:xfrm>
          <a:prstGeom prst="rect">
            <a:avLst/>
          </a:prstGeom>
        </p:spPr>
      </p:pic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4EFC02E0-08DE-9EE5-78C4-CECC4F0A2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9172" y="1222940"/>
            <a:ext cx="5684613" cy="426346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95BAE448-7837-242B-2B53-431F67E666EC}"/>
              </a:ext>
            </a:extLst>
          </p:cNvPr>
          <p:cNvSpPr txBox="1"/>
          <p:nvPr/>
        </p:nvSpPr>
        <p:spPr>
          <a:xfrm>
            <a:off x="838200" y="5486400"/>
            <a:ext cx="90154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Para </a:t>
            </a:r>
            <a:r>
              <a:rPr lang="en-GB" sz="3200" dirty="0" err="1"/>
              <a:t>salir</a:t>
            </a:r>
            <a:r>
              <a:rPr lang="en-GB" sz="3200" dirty="0"/>
              <a:t> de </a:t>
            </a:r>
            <a:r>
              <a:rPr lang="en-GB" sz="3200" dirty="0" err="1"/>
              <a:t>cualquier</a:t>
            </a:r>
            <a:r>
              <a:rPr lang="en-GB" sz="3200" dirty="0"/>
              <a:t> </a:t>
            </a:r>
            <a:r>
              <a:rPr lang="en-GB" sz="3200" dirty="0" err="1"/>
              <a:t>bucle</a:t>
            </a:r>
            <a:r>
              <a:rPr lang="en-GB" sz="3200" dirty="0"/>
              <a:t>, </a:t>
            </a:r>
            <a:r>
              <a:rPr lang="en-GB" sz="3200" dirty="0" err="1"/>
              <a:t>escribimos</a:t>
            </a:r>
            <a:r>
              <a:rPr lang="en-GB" sz="3200" dirty="0"/>
              <a:t> break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83087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4781DB-F81B-C69B-8B7C-A452CC0AA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Ejercicios</a:t>
            </a:r>
            <a:r>
              <a:rPr lang="en-GB" dirty="0"/>
              <a:t> 8 y 9</a:t>
            </a:r>
            <a:endParaRPr lang="es-B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A007F7-869B-5C8D-863B-D0F7E98EF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Realizar un programa en </a:t>
            </a:r>
            <a:r>
              <a:rPr lang="es-ES" dirty="0" err="1"/>
              <a:t>python</a:t>
            </a:r>
            <a:r>
              <a:rPr lang="es-ES" dirty="0"/>
              <a:t>, para que un usuario pueda introducir un numero del cual quiere saber sus </a:t>
            </a:r>
            <a:r>
              <a:rPr lang="es-ES" dirty="0" err="1"/>
              <a:t>multiplos</a:t>
            </a:r>
            <a:r>
              <a:rPr lang="es-ES" dirty="0"/>
              <a:t>, desde el 1 hasta un numero limite (LIM) (</a:t>
            </a:r>
            <a:r>
              <a:rPr lang="es-ES" dirty="0" err="1"/>
              <a:t>tambien</a:t>
            </a:r>
            <a:r>
              <a:rPr lang="es-ES" dirty="0"/>
              <a:t> escogido por el usuario). Usando un bucle </a:t>
            </a:r>
            <a:r>
              <a:rPr lang="es-ES" dirty="0" err="1"/>
              <a:t>for</a:t>
            </a:r>
            <a:r>
              <a:rPr lang="es-ES" dirty="0"/>
              <a:t>, el programa solo debe imprimir los </a:t>
            </a:r>
            <a:r>
              <a:rPr lang="es-ES" dirty="0" err="1"/>
              <a:t>numeros</a:t>
            </a:r>
            <a:r>
              <a:rPr lang="es-ES" dirty="0"/>
              <a:t> que son </a:t>
            </a:r>
            <a:r>
              <a:rPr lang="es-ES" dirty="0" err="1"/>
              <a:t>multiplos</a:t>
            </a:r>
            <a:r>
              <a:rPr lang="es-ES" dirty="0"/>
              <a:t> del numero escogido.</a:t>
            </a:r>
          </a:p>
          <a:p>
            <a:r>
              <a:rPr lang="es-BO" dirty="0"/>
              <a:t>Realizar un programa que imprima los números primos hasta cierto limite, que el usuario debe indicar, y al final debe indicar cuantos números primos hay en total hasta ese limite.</a:t>
            </a:r>
          </a:p>
          <a:p>
            <a:pPr marL="0" indent="0">
              <a:buNone/>
            </a:pPr>
            <a:endParaRPr lang="es-BO" dirty="0"/>
          </a:p>
          <a:p>
            <a:pPr marL="0" indent="0">
              <a:buNone/>
            </a:pP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41075668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2AB8E2-3761-2850-AEA8-3D31D787B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Ejercicios</a:t>
            </a:r>
            <a:r>
              <a:rPr lang="en-GB" dirty="0"/>
              <a:t> </a:t>
            </a:r>
            <a:endParaRPr lang="es-B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20E14C-FB64-0293-4A2E-03398F9B2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Realize un </a:t>
            </a:r>
            <a:r>
              <a:rPr lang="en-GB" dirty="0" err="1"/>
              <a:t>programa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escriba</a:t>
            </a:r>
            <a:r>
              <a:rPr lang="en-GB" dirty="0"/>
              <a:t> la </a:t>
            </a:r>
            <a:r>
              <a:rPr lang="en-GB" dirty="0" err="1"/>
              <a:t>serie</a:t>
            </a:r>
            <a:r>
              <a:rPr lang="en-GB" dirty="0"/>
              <a:t> de Fibonacci hasta un </a:t>
            </a:r>
            <a:r>
              <a:rPr lang="en-GB" dirty="0" err="1"/>
              <a:t>cierto</a:t>
            </a:r>
            <a:r>
              <a:rPr lang="en-GB" dirty="0"/>
              <a:t> </a:t>
            </a:r>
            <a:r>
              <a:rPr lang="en-GB" dirty="0" err="1"/>
              <a:t>limite</a:t>
            </a:r>
            <a:r>
              <a:rPr lang="en-GB" dirty="0"/>
              <a:t> </a:t>
            </a:r>
            <a:r>
              <a:rPr lang="en-GB" dirty="0" err="1"/>
              <a:t>indicado</a:t>
            </a:r>
            <a:r>
              <a:rPr lang="en-GB" dirty="0"/>
              <a:t>, </a:t>
            </a:r>
            <a:r>
              <a:rPr lang="en-GB" dirty="0" err="1"/>
              <a:t>recuerde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la </a:t>
            </a:r>
            <a:r>
              <a:rPr lang="en-GB" dirty="0" err="1"/>
              <a:t>serie</a:t>
            </a:r>
            <a:r>
              <a:rPr lang="en-GB" dirty="0"/>
              <a:t> </a:t>
            </a:r>
            <a:r>
              <a:rPr lang="en-GB" dirty="0" err="1"/>
              <a:t>empieza</a:t>
            </a:r>
            <a:r>
              <a:rPr lang="en-GB" dirty="0"/>
              <a:t> con 0 y 1.</a:t>
            </a:r>
          </a:p>
          <a:p>
            <a:r>
              <a:rPr lang="en-GB" dirty="0"/>
              <a:t>Realize un </a:t>
            </a:r>
            <a:r>
              <a:rPr lang="en-GB" dirty="0" err="1"/>
              <a:t>programa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calcule</a:t>
            </a:r>
            <a:r>
              <a:rPr lang="en-GB" dirty="0"/>
              <a:t> </a:t>
            </a:r>
            <a:r>
              <a:rPr lang="en-GB" dirty="0" err="1"/>
              <a:t>el</a:t>
            </a:r>
            <a:r>
              <a:rPr lang="en-GB" dirty="0"/>
              <a:t> factorial de un </a:t>
            </a:r>
            <a:r>
              <a:rPr lang="en-GB" dirty="0" err="1"/>
              <a:t>numero</a:t>
            </a:r>
            <a:r>
              <a:rPr lang="en-GB" dirty="0"/>
              <a:t>, </a:t>
            </a:r>
            <a:r>
              <a:rPr lang="en-GB" dirty="0" err="1"/>
              <a:t>si</a:t>
            </a:r>
            <a:r>
              <a:rPr lang="en-GB" dirty="0"/>
              <a:t> introduces un </a:t>
            </a:r>
            <a:r>
              <a:rPr lang="en-GB" dirty="0" err="1"/>
              <a:t>numero</a:t>
            </a:r>
            <a:r>
              <a:rPr lang="en-GB" dirty="0"/>
              <a:t> no </a:t>
            </a:r>
            <a:r>
              <a:rPr lang="en-GB" dirty="0" err="1"/>
              <a:t>valido</a:t>
            </a:r>
            <a:r>
              <a:rPr lang="en-GB" dirty="0"/>
              <a:t>, </a:t>
            </a:r>
            <a:r>
              <a:rPr lang="en-GB" dirty="0" err="1"/>
              <a:t>el</a:t>
            </a:r>
            <a:r>
              <a:rPr lang="en-GB" dirty="0"/>
              <a:t> </a:t>
            </a:r>
            <a:r>
              <a:rPr lang="en-GB" dirty="0" err="1"/>
              <a:t>programa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lo </a:t>
            </a:r>
            <a:r>
              <a:rPr lang="en-GB" dirty="0" err="1"/>
              <a:t>debe</a:t>
            </a:r>
            <a:r>
              <a:rPr lang="en-GB" dirty="0"/>
              <a:t> </a:t>
            </a:r>
            <a:r>
              <a:rPr lang="en-GB" dirty="0" err="1"/>
              <a:t>indicar</a:t>
            </a:r>
            <a:endParaRPr lang="en-GB" dirty="0"/>
          </a:p>
          <a:p>
            <a:r>
              <a:rPr lang="en-GB" dirty="0"/>
              <a:t>Realize un </a:t>
            </a:r>
            <a:r>
              <a:rPr lang="en-GB" dirty="0" err="1"/>
              <a:t>programa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realize la </a:t>
            </a:r>
            <a:r>
              <a:rPr lang="en-GB" dirty="0" err="1"/>
              <a:t>descomposicion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factores</a:t>
            </a:r>
            <a:r>
              <a:rPr lang="en-GB" dirty="0"/>
              <a:t> </a:t>
            </a:r>
            <a:r>
              <a:rPr lang="en-GB" dirty="0" err="1"/>
              <a:t>primos</a:t>
            </a:r>
            <a:r>
              <a:rPr lang="en-GB" dirty="0"/>
              <a:t> y calculi </a:t>
            </a:r>
            <a:r>
              <a:rPr lang="en-GB" dirty="0" err="1"/>
              <a:t>el</a:t>
            </a:r>
            <a:r>
              <a:rPr lang="en-GB" dirty="0"/>
              <a:t> </a:t>
            </a:r>
            <a:r>
              <a:rPr lang="en-GB" dirty="0" err="1"/>
              <a:t>minimo</a:t>
            </a:r>
            <a:r>
              <a:rPr lang="en-GB" dirty="0"/>
              <a:t> </a:t>
            </a:r>
            <a:r>
              <a:rPr lang="en-GB" dirty="0" err="1"/>
              <a:t>comun</a:t>
            </a:r>
            <a:r>
              <a:rPr lang="en-GB" dirty="0"/>
              <a:t> </a:t>
            </a:r>
            <a:r>
              <a:rPr lang="en-GB" dirty="0" err="1"/>
              <a:t>multiplo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40787602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166740-6FAA-51B7-90E4-3AA059AF4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Errores</a:t>
            </a:r>
            <a:endParaRPr lang="es-B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ED7689-F426-BBC2-A933-1316232AC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err="1"/>
              <a:t>Definimos</a:t>
            </a:r>
            <a:r>
              <a:rPr lang="en-GB" dirty="0"/>
              <a:t> dos </a:t>
            </a:r>
            <a:r>
              <a:rPr lang="en-GB" dirty="0" err="1"/>
              <a:t>criterios</a:t>
            </a:r>
            <a:r>
              <a:rPr lang="en-GB" dirty="0"/>
              <a:t> de error:</a:t>
            </a:r>
          </a:p>
          <a:p>
            <a:pPr marL="0" indent="0">
              <a:buNone/>
            </a:pPr>
            <a:endParaRPr lang="es-BO" dirty="0"/>
          </a:p>
        </p:txBody>
      </p:sp>
      <p:pic>
        <p:nvPicPr>
          <p:cNvPr id="5" name="Imagen 4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2DE632D6-B0A0-2342-6654-F35F315BB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339" y="2585339"/>
            <a:ext cx="8026116" cy="283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9354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B17043-9E66-8598-5C41-D89DC60CD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Ejercicios</a:t>
            </a:r>
            <a:r>
              <a:rPr lang="en-GB" dirty="0"/>
              <a:t>, </a:t>
            </a:r>
            <a:r>
              <a:rPr lang="en-GB" dirty="0" err="1"/>
              <a:t>indique</a:t>
            </a:r>
            <a:r>
              <a:rPr lang="en-GB" dirty="0"/>
              <a:t> </a:t>
            </a:r>
            <a:r>
              <a:rPr lang="en-GB" dirty="0" err="1"/>
              <a:t>el</a:t>
            </a:r>
            <a:r>
              <a:rPr lang="en-GB" dirty="0"/>
              <a:t> </a:t>
            </a:r>
            <a:r>
              <a:rPr lang="en-GB" dirty="0" err="1"/>
              <a:t>numero</a:t>
            </a:r>
            <a:r>
              <a:rPr lang="en-GB" dirty="0"/>
              <a:t> de </a:t>
            </a:r>
            <a:r>
              <a:rPr lang="en-GB" dirty="0" err="1"/>
              <a:t>iteraciones</a:t>
            </a:r>
            <a:r>
              <a:rPr lang="en-GB" dirty="0"/>
              <a:t> </a:t>
            </a:r>
            <a:r>
              <a:rPr lang="en-GB" dirty="0" err="1"/>
              <a:t>necesario</a:t>
            </a:r>
            <a:r>
              <a:rPr lang="en-GB" dirty="0"/>
              <a:t>, para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el</a:t>
            </a:r>
            <a:r>
              <a:rPr lang="en-GB" dirty="0"/>
              <a:t> error sea de e-14</a:t>
            </a:r>
            <a:endParaRPr lang="es-BO" dirty="0"/>
          </a:p>
        </p:txBody>
      </p:sp>
      <p:pic>
        <p:nvPicPr>
          <p:cNvPr id="5" name="Marcador de contenido 4" descr="Diagrama, Texto&#10;&#10;El contenido generado por IA puede ser incorrecto.">
            <a:extLst>
              <a:ext uri="{FF2B5EF4-FFF2-40B4-BE49-F238E27FC236}">
                <a16:creationId xmlns:a16="http://schemas.microsoft.com/office/drawing/2014/main" id="{30D4C762-1746-51F0-8269-6E3510B0A9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9242" y="1704512"/>
            <a:ext cx="8840338" cy="4832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7554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161628-8022-8BC3-4824-A6C26E381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Ejercicio</a:t>
            </a:r>
            <a:endParaRPr lang="es-BO" dirty="0"/>
          </a:p>
        </p:txBody>
      </p:sp>
      <p:pic>
        <p:nvPicPr>
          <p:cNvPr id="5" name="Marcador de contenido 4" descr="Una 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58A62C36-2437-EB08-9CFB-7D08DC8F6E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5846" y="2059178"/>
            <a:ext cx="4591691" cy="4143953"/>
          </a:xfrm>
          <a:prstGeom prst="rect">
            <a:avLst/>
          </a:prstGeom>
        </p:spPr>
      </p:pic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00DBF9E8-6C56-CCA9-F142-EABB3B494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7537" y="1677801"/>
            <a:ext cx="6132785" cy="3590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0945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621</Words>
  <Application>Microsoft Office PowerPoint</Application>
  <PresentationFormat>Panorámica</PresentationFormat>
  <Paragraphs>67</Paragraphs>
  <Slides>30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4" baseType="lpstr">
      <vt:lpstr>Aptos</vt:lpstr>
      <vt:lpstr>Aptos Display</vt:lpstr>
      <vt:lpstr>Arial</vt:lpstr>
      <vt:lpstr>Tema de Office</vt:lpstr>
      <vt:lpstr>Cálculo Numérico y Programación</vt:lpstr>
      <vt:lpstr>¿Para qué nos sirve el cálculo numérico?</vt:lpstr>
      <vt:lpstr>Cálculo numérico y programación en la carrera</vt:lpstr>
      <vt:lpstr>Rayos Cósmicos</vt:lpstr>
      <vt:lpstr>Física de la Atmósfera</vt:lpstr>
      <vt:lpstr>Rayos Cósmicos</vt:lpstr>
      <vt:lpstr>Física Teórica</vt:lpstr>
      <vt:lpstr>Presentación de PowerPoint</vt:lpstr>
      <vt:lpstr>Rayos Cósmicos</vt:lpstr>
      <vt:lpstr>Presentación de PowerPoint</vt:lpstr>
      <vt:lpstr>Introducción a Python</vt:lpstr>
      <vt:lpstr>Presentación de PowerPoint</vt:lpstr>
      <vt:lpstr>Básicos de Python</vt:lpstr>
      <vt:lpstr>Operaciones con strings (palabras)</vt:lpstr>
      <vt:lpstr>Ejercicio 1 y 2</vt:lpstr>
      <vt:lpstr>Ejercicio 3</vt:lpstr>
      <vt:lpstr>Tipos de variables</vt:lpstr>
      <vt:lpstr>Ejercicios 3 y 4</vt:lpstr>
      <vt:lpstr>Operaciones con numeros</vt:lpstr>
      <vt:lpstr>Presentación de PowerPoint</vt:lpstr>
      <vt:lpstr>Libreria math</vt:lpstr>
      <vt:lpstr>Otras operaciones</vt:lpstr>
      <vt:lpstr>Condicional</vt:lpstr>
      <vt:lpstr>Ejercicios 5, 6 y 7</vt:lpstr>
      <vt:lpstr>Bucles con for y while</vt:lpstr>
      <vt:lpstr>Ejercicios 8 y 9</vt:lpstr>
      <vt:lpstr>Ejercicios </vt:lpstr>
      <vt:lpstr>Errores</vt:lpstr>
      <vt:lpstr>Ejercicios, indique el numero de iteraciones necesario, para que el error sea de e-14</vt:lpstr>
      <vt:lpstr>Ejercicio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Roberto  García Miranda</dc:creator>
  <cp:lastModifiedBy>Daniel Roberto  García Miranda</cp:lastModifiedBy>
  <cp:revision>2</cp:revision>
  <dcterms:created xsi:type="dcterms:W3CDTF">2026-02-08T19:37:31Z</dcterms:created>
  <dcterms:modified xsi:type="dcterms:W3CDTF">2026-02-09T16:21:14Z</dcterms:modified>
</cp:coreProperties>
</file>